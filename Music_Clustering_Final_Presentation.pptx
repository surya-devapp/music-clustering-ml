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38BDF8"/>
                </a:solidFill>
              </a:defRPr>
            </a:pPr>
            <a:r>
              <a:t>MUSIC CLUSTERING: KEY INSIGHTS</a:t>
            </a:r>
          </a:p>
          <a:p>
            <a:pPr algn="ctr">
              <a:defRPr sz="2800">
                <a:solidFill>
                  <a:srgbClr val="F8FAFC"/>
                </a:solidFill>
              </a:defRPr>
            </a:pPr>
            <a:r>
              <a:t>Data-Driven Results &amp;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38BDF8"/>
                </a:solidFill>
              </a:defRPr>
            </a:pPr>
            <a:r>
              <a:t>Insight 1: Mathematical Optimality</a:t>
            </a:r>
          </a:p>
        </p:txBody>
      </p:sp>
      <p:pic>
        <p:nvPicPr>
          <p:cNvPr id="4" name="Picture 3" descr="elbow_silhouet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87552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✔ Optimum Found: The dataset naturally splits into 4 vibey clusters.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✔ Elbow Method: Significant drop in Inertia at K=4 proves optimal balance.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✔ Silhouette Score (0.91): Indicates 91% separation confidence.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✔ Verdict: Clusters are mathematically stable and distinct.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38BDF8"/>
                </a:solidFill>
              </a:defRPr>
            </a:pPr>
            <a:r>
              <a:t>Insight 2: High-Dimensional Separation</a:t>
            </a:r>
          </a:p>
        </p:txBody>
      </p:sp>
      <p:pic>
        <p:nvPicPr>
          <p:cNvPr id="4" name="Picture 3" descr="cluster_visualization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8580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Islands of Music: Clear physical separation in PCA space.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PC1 (Energy Axis): Primary driver of cluster differentiation.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No Overlap: Visual proof of the high Silhouette score.</a:t>
            </a:r>
          </a:p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• Stability: Dense centers indicate high internal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38BDF8"/>
                </a:solidFill>
              </a:defRPr>
            </a:pPr>
            <a:r>
              <a:t>Insight 3: Cluster DNA (Heatmap)</a:t>
            </a:r>
          </a:p>
        </p:txBody>
      </p:sp>
      <p:pic>
        <p:nvPicPr>
          <p:cNvPr id="4" name="Picture 3" descr="cluster_featu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➤ Cluster 0: High Acousticness (Chill/Focus).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➤ Cluster 1: High Danceability &amp; Valence (Party).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➤ Cluster 2: High Energy &amp; Liveness (Performance).</a:t>
            </a:r>
          </a:p>
          <a:p>
            <a:pPr>
              <a:spcAft>
                <a:spcPts val="1200"/>
              </a:spcAft>
              <a:defRPr sz="1800">
                <a:solidFill>
                  <a:srgbClr val="F8FAFC"/>
                </a:solidFill>
              </a:defRPr>
            </a:pPr>
            <a:r>
              <a:t>➤ Automation: These heat signatures act as automated vibe tags.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38BDF8"/>
                </a:solidFill>
              </a:defRPr>
            </a:pPr>
            <a:r>
              <a:t>Insight 4: Preprocessing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</a:defRPr>
            </a:pPr>
            <a:r>
              <a:t>⚡ Log Transformation: Neutralized the 'Duration' outlier power.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</a:defRPr>
            </a:pPr>
            <a:r>
              <a:t>⚡ Skewness Correction: Duration_ms skew dropped from 9.81 to -0.65.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</a:defRPr>
            </a:pPr>
            <a:r>
              <a:t>⚡ Robust Scaling: Neutralized live recording volume spikes.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</a:defRPr>
            </a:pPr>
            <a:r>
              <a:t>⚡ Impact: Model clusters by musicality, not just track length.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38BDF8"/>
                </a:solidFill>
              </a:defRPr>
            </a:pPr>
            <a:r>
              <a:t>Insight 5: Business Implementation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FBBF24"/>
                </a:solidFill>
              </a:defRPr>
            </a:pPr>
            <a:r>
              <a:t>💰 Automated Playlisting: Higher user satisfaction with 'Vibe Match'.</a:t>
            </a:r>
          </a:p>
          <a:p>
            <a:pPr>
              <a:spcAft>
                <a:spcPts val="2000"/>
              </a:spcAft>
              <a:defRPr sz="2400">
                <a:solidFill>
                  <a:srgbClr val="FBBF24"/>
                </a:solidFill>
              </a:defRPr>
            </a:pPr>
            <a:r>
              <a:t>💰 Targeted Ads: serve high-energy ads to high-energy listeners.</a:t>
            </a:r>
          </a:p>
          <a:p>
            <a:pPr>
              <a:spcAft>
                <a:spcPts val="2000"/>
              </a:spcAft>
              <a:defRPr sz="2400">
                <a:solidFill>
                  <a:srgbClr val="FBBF24"/>
                </a:solidFill>
              </a:defRPr>
            </a:pPr>
            <a:r>
              <a:t>💰 Production Ready: Exported .pkl model ready for API integration.</a:t>
            </a:r>
          </a:p>
          <a:p>
            <a:pPr>
              <a:spcAft>
                <a:spcPts val="2000"/>
              </a:spcAft>
              <a:defRPr sz="2400">
                <a:solidFill>
                  <a:srgbClr val="FBBF24"/>
                </a:solidFill>
              </a:defRPr>
            </a:pPr>
            <a:r>
              <a:t>💰 Scalability: Process millions of songs at near-zero curation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